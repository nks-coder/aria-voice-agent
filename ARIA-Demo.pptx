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54880" y="1554480"/>
            <a:ext cx="2743200" cy="2743200"/>
          </a:xfrm>
          <a:prstGeom prst="ellipse">
            <a:avLst/>
          </a:prstGeom>
          <a:solidFill>
            <a:srgbClr val="10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800" b="1">
                <a:solidFill>
                  <a:srgbClr val="00D4FF"/>
                </a:solidFill>
                <a:latin typeface="Calibri"/>
              </a:rPr>
              <a:t>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F0F2FC"/>
                </a:solidFill>
                <a:latin typeface="Calibri"/>
              </a:rPr>
              <a:t>Neural Command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8895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6B7EAA"/>
                </a:solidFill>
                <a:latin typeface="Calibri"/>
              </a:rPr>
              <a:t>A voice-first AI assistant for Gmail, Calendar, and beyond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DE6D8"/>
                </a:solidFill>
                <a:latin typeface="Calibri"/>
              </a:rPr>
              <a:t>Nihhar K Sonee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Inboxes are overwhelming. Voice should fix that.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7373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Calibri"/>
              </a:rPr>
              <a:t>What users actually want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"What's important in my inbox today?"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"Send a quick reply to John"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"Archive everything from LinkedIn"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"Show me my bank statements"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C8181"/>
                </a:solidFill>
                <a:latin typeface="Calibri"/>
              </a:rPr>
              <a:t>What they're stuck doing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Scrolling through 200 unread emails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Tapping on tiny mobile UIs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Switching apps to send a one-line reply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Manually filtering financial vs. job vs. spam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5DE6D8"/>
                </a:solidFill>
                <a:latin typeface="Calibri"/>
              </a:rPr>
              <a:t>ARIA is the voice layer between you and your inbox.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6B7EAA"/>
                </a:solidFill>
                <a:latin typeface="Calibri"/>
              </a:rPr>
              <a:t>Speak naturally. Get filtered, ranked, summarized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Browser ⇄ Cloudflare Worker ⇄ Groq + ElevenLabs + Google APIs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73736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5DE6D8"/>
                </a:solidFill>
                <a:latin typeface="Calibri"/>
              </a:rPr>
              <a:t>Frontend (browser)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Static HTML/CSS/JS — no framework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Web Speech API (free, browser-native)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Gmail OAuth (PKCE flow)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GitHub Pages hosting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Single-recognizer wake word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Editable confirm-send modal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Cloudflare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Routing brain (detectIntent regex)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Importance ranker (7 parallel queries)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Email composer (Gmail API)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TTS proxy (ElevenLabs)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OAuth callback handler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Supabase token persistence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Calibri"/>
              </a:rPr>
              <a:t>External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Groq (Llama 3.3 70B, fallback 8B)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ElevenLabs (Bella voice)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Gmail API (search, send, organize)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Google OAuth 2.0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Supabase (per-session tokens)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Cloudflare Workers (edge runtime)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The voice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From wake word to action in under 3 seconds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9407" y="2011680"/>
            <a:ext cx="2286000" cy="23774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87" y="2148840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5DE6D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47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0F2FC"/>
                </a:solidFill>
                <a:latin typeface="Calibri"/>
              </a:rPr>
              <a:t>Wake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47" y="3291840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EAA"/>
                </a:solidFill>
                <a:latin typeface="Calibri"/>
              </a:rPr>
              <a:t>"Hey ARIA"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3886199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Calibri"/>
              </a:rPr>
              <a:t>Web Speech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1127" y="2011680"/>
            <a:ext cx="2286000" cy="23774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07" y="2148840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5DE6D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567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0F2FC"/>
                </a:solidFill>
                <a:latin typeface="Calibri"/>
              </a:rPr>
              <a:t>Listen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2567" y="3291840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EAA"/>
                </a:solidFill>
                <a:latin typeface="Calibri"/>
              </a:rPr>
              <a:t>10s command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567" y="3886199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Calibri"/>
              </a:rPr>
              <a:t>Browser STT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2847" y="2011680"/>
            <a:ext cx="2286000" cy="23774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5727" y="2148840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5DE6D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4287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0F2FC"/>
                </a:solidFill>
                <a:latin typeface="Calibri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4287" y="3291840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EAA"/>
                </a:solidFill>
                <a:latin typeface="Calibri"/>
              </a:rPr>
              <a:t>detectIntent(msg)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287" y="3886199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Calibri"/>
              </a:rPr>
              <a:t>Cloudflare Worker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4567" y="2011680"/>
            <a:ext cx="2286000" cy="23774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7447" y="2148840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5DE6D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0F2FC"/>
                </a:solidFill>
                <a:latin typeface="Calibri"/>
              </a:rPr>
              <a:t>Search/Act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6007" y="3291840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EAA"/>
                </a:solidFill>
                <a:latin typeface="Calibri"/>
              </a:rPr>
              <a:t>Gmail API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6007" y="3886199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Calibri"/>
              </a:rPr>
              <a:t>Worker → Google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6287" y="2011680"/>
            <a:ext cx="2286000" cy="237744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99167" y="2148840"/>
            <a:ext cx="19202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5DE6D8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7727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0F2FC"/>
                </a:solidFill>
                <a:latin typeface="Calibri"/>
              </a:rPr>
              <a:t>Speak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7727" y="3291840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EAA"/>
                </a:solidFill>
                <a:latin typeface="Calibri"/>
              </a:rPr>
              <a:t>Stream MP3 reply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7727" y="3886199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  <a:latin typeface="Calibri"/>
              </a:rPr>
              <a:t>ElevenLabs TTS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5DE6D8"/>
                </a:solidFill>
                <a:latin typeface="Calibri"/>
              </a:rPr>
              <a:t>Latency budget: ~280ms STT + ~700ms Groq + ~1.2s TTS = ~2.2s end-to-end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Tools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Every choice optimizes for cost, latency, or developer ergonomics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554480"/>
            <a:ext cx="5669280" cy="155448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DE6D8"/>
                </a:solidFill>
                <a:latin typeface="Calibri"/>
              </a:rPr>
              <a:t>Groq (Llama 3.3 70B)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Calibri"/>
              </a:rPr>
              <a:t>LLM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3949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0F2FC"/>
                </a:solidFill>
                <a:latin typeface="Calibri"/>
              </a:rPr>
              <a:t>10x faster than OpenAI at ~1/10 the cost. Llama 3.3 is open-weights, no vendor lock-in. Auto-fallback to 3.1-8b on rate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669280" cy="155448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DE6D8"/>
                </a:solidFill>
                <a:latin typeface="Calibri"/>
              </a:rPr>
              <a:t>Cloudflare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Calibri"/>
              </a:rPr>
              <a:t>Backend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53949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0F2FC"/>
                </a:solidFill>
                <a:latin typeface="Calibri"/>
              </a:rPr>
              <a:t>Zero cold-start, edge-deployed (low TTFB anywhere), 100k free requests/day. Routes through one /chat endpoint.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5669280" cy="155448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DE6D8"/>
                </a:solidFill>
                <a:latin typeface="Calibri"/>
              </a:rPr>
              <a:t>ElevenLabs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Calibri"/>
              </a:rPr>
              <a:t>Text-to-speech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3949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0F2FC"/>
                </a:solidFill>
                <a:latin typeface="Calibri"/>
              </a:rPr>
              <a:t>Highest-quality voice on the market. Bella voice for warmth. Streaming MP3 = TTS starts playing in ~1s.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46120"/>
            <a:ext cx="5669280" cy="155448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DE6D8"/>
                </a:solidFill>
                <a:latin typeface="Calibri"/>
              </a:rPr>
              <a:t>Web Speech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Calibri"/>
              </a:rPr>
              <a:t>Speech-to-text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69080"/>
            <a:ext cx="53949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0F2FC"/>
                </a:solidFill>
                <a:latin typeface="Calibri"/>
              </a:rPr>
              <a:t>Free, browser-native, no API key. Continuous recognition + interim results. Wake word runs entirely client-side.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5669280" cy="155448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DE6D8"/>
                </a:solidFill>
                <a:latin typeface="Calibri"/>
              </a:rPr>
              <a:t>Gmail API + OAuth 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Calibri"/>
              </a:rPr>
              <a:t>Email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53949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0F2FC"/>
                </a:solidFill>
                <a:latin typeface="Calibri"/>
              </a:rPr>
              <a:t>Direct, no third-party broker. PKCE flow keeps tokens browser-side; Supabase persists refresh tokens.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937760"/>
            <a:ext cx="5669280" cy="155448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29200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DE6D8"/>
                </a:solidFill>
                <a:latin typeface="Calibri"/>
              </a:rPr>
              <a:t>GitHub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9496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Calibri"/>
              </a:rPr>
              <a:t>Frontend hosting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760720"/>
            <a:ext cx="53949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0F2FC"/>
                </a:solidFill>
                <a:latin typeface="Calibri"/>
              </a:rPr>
              <a:t>Free, fast CDN, automatic HTTPS. Static HTML keeps the surface area minimal.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Smart importance ranker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From "top 5 emails" to "top 5 BANK emails of this month"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5DE6D8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User: "Top 5 important bank emails this month"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detectIntent → important_emails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Category detector → financial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findImportantEmails(category="financial")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Runs ONE Gmail query (was 7 — 6x faster)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Subject + from filters: payment, invoice, bill, statement, chase, amex, paypal, citi, …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Score by recency, slice top 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Return JSON → frontend renders Gmail-style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Calibri"/>
              </a:rPr>
              <a:t>Categories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💰 Financial — banks, credit cards, payments, billing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🏛 Government — IRS, USCIS, DMV, courts, .gov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💼 Job — recruiters, interviews, offers, Workday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⚠️ Urgent — deadlines, action-required, expires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⭐ Starred — Gmail's user-flagged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📄 Documents — contracts, signatures, DocuSign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2FC"/>
                </a:solidFill>
                <a:latin typeface="Calibri"/>
              </a:rPr>
              <a:t>• 🌐 General — all 5 buckets unioned + ranked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From v1 "can it speak" to v16.6 "can it actually help"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60020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v1-v5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Skeleton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Chat → Groq → ElevenLabs. Could speak, couldn't do anything.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v6-v10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488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Gmail OAuth + send + read. Calendar booking. Slack. Weather.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0604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v11-v14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6517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UX polish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Gmail-style email cards. Reply suggestions. Stop button.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v15.x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1546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Voice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5468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Echo blackout (1.5s), liveBar removal, deterministic summaries.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v16.0-v16.2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6576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Smart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5760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Multi-turn ack, bulk organize, importance ranker built.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v16.3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1605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Crash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6052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lastMsg const → let bug found and squashed.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1772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6344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v16.4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6634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Editable modal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663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To/Subject/Message inputs in confirm-send dialog.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6636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v16.5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1663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THE bug fix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16636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stripSystemPrefix bracket leak (the root cause of the email loop saga).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623560"/>
            <a:ext cx="1463040" cy="411480"/>
          </a:xfrm>
          <a:prstGeom prst="roundRect">
            <a:avLst>
              <a:gd name="adj" fmla="val 40000"/>
            </a:avLst>
          </a:prstGeom>
          <a:solidFill>
            <a:srgbClr val="5DE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4050A"/>
                </a:solidFill>
                <a:latin typeface="Calibri"/>
              </a:rPr>
              <a:t>v16.6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6692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Category ranker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66928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0F2FC"/>
                </a:solidFill>
                <a:latin typeface="Calibri"/>
              </a:rPr>
              <a:t>"Bank emails", "job emails" — single-bucket precision.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What we'll see in the next 3 minutes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554480"/>
            <a:ext cx="5669280" cy="141732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5DE6D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7335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0F2FC"/>
                </a:solidFill>
                <a:latin typeface="Calibri"/>
              </a:rPr>
              <a:t>Greeting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574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Calibri"/>
              </a:rPr>
              <a:t>"Hi" → just a chat reply. No accidental email fetch.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888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EAA"/>
                </a:solidFill>
                <a:latin typeface="Calibri"/>
              </a:rPr>
              <a:t>Proves the bracket-leak fix 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669280" cy="141732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5DE6D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7335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0F2FC"/>
                </a:solidFill>
                <a:latin typeface="Calibri"/>
              </a:rPr>
              <a:t>Smart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574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Calibri"/>
              </a:rPr>
              <a:t>"Top 5 important bank emails this month"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46888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EAA"/>
                </a:solidFill>
                <a:latin typeface="Calibri"/>
              </a:rPr>
              <a:t>Importance ranker + financial filter.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5669280" cy="141732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5DE6D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2783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0F2FC"/>
                </a:solidFill>
                <a:latin typeface="Calibri"/>
              </a:rPr>
              <a:t>Sender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1188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Calibri"/>
              </a:rPr>
              <a:t>"Show me my Workday emails"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233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EAA"/>
                </a:solidFill>
                <a:latin typeface="Calibri"/>
              </a:rPr>
              <a:t>Direct sender lookup.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08960"/>
            <a:ext cx="5669280" cy="141732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5DE6D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22783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0F2FC"/>
                </a:solidFill>
                <a:latin typeface="Calibri"/>
              </a:rPr>
              <a:t>Bulk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61188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Calibri"/>
              </a:rPr>
              <a:t>"Archive all from LinkedIn"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233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EAA"/>
                </a:solidFill>
                <a:latin typeface="Calibri"/>
              </a:rPr>
              <a:t>Bulk organize over up to 50 matches.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5669280" cy="141732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5DE6D8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78231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0F2FC"/>
                </a:solidFill>
                <a:latin typeface="Calibri"/>
              </a:rPr>
              <a:t>Reply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16636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Calibri"/>
              </a:rPr>
              <a:t>Tap "Send This Reply" on a job email; edit body in modal.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57784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EAA"/>
                </a:solidFill>
                <a:latin typeface="Calibri"/>
              </a:rPr>
              <a:t>Editable confirm-send.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663440"/>
            <a:ext cx="5669280" cy="141732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5DE6D8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78231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0F2FC"/>
                </a:solidFill>
                <a:latin typeface="Calibri"/>
              </a:rPr>
              <a:t>Wake 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16636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Calibri"/>
              </a:rPr>
              <a:t>"Hey ARIA, what's important today?"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57784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EAA"/>
                </a:solidFill>
                <a:latin typeface="Calibri"/>
              </a:rPr>
              <a:t>Hands-free trigger + voice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What it took to get here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2011680"/>
            <a:ext cx="2743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>
                <a:solidFill>
                  <a:srgbClr val="5DE6D8"/>
                </a:solidFill>
                <a:latin typeface="Calibri"/>
              </a:rPr>
              <a:t>16.6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F0F2FC"/>
                </a:solidFill>
                <a:latin typeface="Calibri"/>
              </a:rPr>
              <a:t>current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2743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>
                <a:solidFill>
                  <a:srgbClr val="00D4FF"/>
                </a:solidFill>
                <a:latin typeface="Calibri"/>
              </a:rPr>
              <a:t>~2.2s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F0F2FC"/>
                </a:solidFill>
                <a:latin typeface="Calibri"/>
              </a:rPr>
              <a:t>voice round-trip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2743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>
                <a:solidFill>
                  <a:srgbClr val="FFD700"/>
                </a:solidFill>
                <a:latin typeface="Calibri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F0F2FC"/>
                </a:solidFill>
                <a:latin typeface="Calibri"/>
              </a:rPr>
              <a:t>monthly cost (free tiers)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0"/>
            <a:ext cx="2743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>
                <a:solidFill>
                  <a:srgbClr val="5DE6D8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F0F2FC"/>
                </a:solidFill>
                <a:latin typeface="Calibri"/>
              </a:rPr>
              <a:t>external integrations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DE6D8"/>
                </a:solidFill>
                <a:latin typeface="Calibri"/>
              </a:rPr>
              <a:t>Cost breakdown — fully usable on free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Cloudflare Workers — 100k requests / day free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Groq Cloud — generous free tier, ~$0.59/M input tokens beyond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ElevenLabs — 10k chars/month free (~5 minutes of speech)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Gmail API + Google OAuth — free for personal use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Supabase — 500MB free DB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0F2FC"/>
                </a:solidFill>
                <a:latin typeface="Calibri"/>
              </a:rPr>
              <a:t>• GitHub Pages — free hosting + free HTTPS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5DE6D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7EAA"/>
                </a:solidFill>
                <a:latin typeface="Calibri"/>
              </a:rPr>
              <a:t>Where ARIA goes after the demo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19050">
            <a:solidFill>
              <a:srgbClr val="5D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64592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5DE6D8"/>
                </a:solidFill>
                <a:latin typeface="Calibri"/>
              </a:rPr>
              <a:t>Near-term (weeks)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Outlook + Microsoft Calendar parity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Meeting summaries (Google Meet API)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Smart unsubscribe ("stop these newsletters")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Drafts before send (multi-turn editing)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Mobile-first PWA install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01422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Calibri"/>
              </a:rPr>
              <a:t>Longer-term (months)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Function-calling instead of regex routing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Local Whisper STT (privacy-first option)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Per-user fine-tuned importance signals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Slack DMs, Notion notes, Linear tickets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0F2FC"/>
                </a:solidFill>
                <a:latin typeface="Calibri"/>
              </a:rPr>
              <a:t>• Persistent memory across sessions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>
                <a:solidFill>
                  <a:srgbClr val="5DE6D8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F0F2F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6B7EAA"/>
                </a:solidFill>
                <a:latin typeface="Calibri"/>
              </a:rPr>
              <a:t>ariaproxy.nihharksonee.workers.dev   ·   github.com/NKS-Coder/ARIA-voice-agent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577840"/>
            <a:ext cx="1218895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FFD700"/>
                </a:solidFill>
                <a:latin typeface="Calibri"/>
              </a:rPr>
              <a:t>Nihhar K Sonee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